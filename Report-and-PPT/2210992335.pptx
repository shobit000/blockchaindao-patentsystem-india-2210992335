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28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24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4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5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9BC4908-F514-4CCB-8A07-29ADF1E809C0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19821-266A-46D4-A7B4-1AD08D69850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Name of the faculty [Group: G00] [Sem:2nd]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ftr" idx="6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Name of the faculty [Group: G00] [Sem:2nd]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sldNum" idx="7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00E9CD-1488-4724-AA65-66EE8EF3054C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0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3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5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9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3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1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2845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2845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41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2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3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4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45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6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4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8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9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50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51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2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6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6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9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1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7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7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7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75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7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2497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88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89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0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1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92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3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94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95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6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7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98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9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0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08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9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10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11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2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1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14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5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16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17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2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2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2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29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1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3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3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35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7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47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48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49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50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51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2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5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54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5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56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57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64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65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66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67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68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69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70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71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72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73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74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75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79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80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1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82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83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8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8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86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7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88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89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90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02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0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0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05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0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7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08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0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11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1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3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769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25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2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2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8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2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0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31" name="Picture 10" descr="LOGO.gif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3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3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34" name="Picture 9" descr="LOGO.gif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3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6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9988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2845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/>
          <p:nvPr/>
        </p:nvSpPr>
        <p:spPr>
          <a:xfrm>
            <a:off x="0" y="840600"/>
            <a:ext cx="9143640" cy="53769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IN" sz="1800" b="1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Project Presentation of </a:t>
            </a:r>
            <a:r>
              <a:rPr lang="en-US" sz="1800" b="1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CO-OP Project at Industry (Module-2) </a:t>
            </a:r>
            <a:r>
              <a:rPr lang="en-IN" sz="1800" b="1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(22CS421)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  <a:ea typeface="Calibri"/>
              </a:rPr>
              <a:t>On</a:t>
            </a: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lang="en-US" sz="2000" dirty="0"/>
              <a:t>Use of Blockchain and DAO in Patent Application System in India </a:t>
            </a:r>
          </a:p>
          <a:p>
            <a:pPr algn="ctr">
              <a:spcBef>
                <a:spcPts val="400"/>
              </a:spcBef>
            </a:pPr>
            <a:br>
              <a:rPr sz="2000" dirty="0"/>
            </a:br>
            <a:r>
              <a:rPr lang="en-US" sz="2000" spc="-1" dirty="0">
                <a:solidFill>
                  <a:srgbClr val="000000"/>
                </a:solidFill>
                <a:latin typeface="Times New Roman"/>
                <a:ea typeface="MS PGothic"/>
              </a:rPr>
              <a:t>Shobit Garg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MS PGothic"/>
              </a:rPr>
              <a:t> (2210992335)</a:t>
            </a:r>
            <a:endParaRPr lang="en-IN" sz="20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algn="ctr"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MS PGothic"/>
              </a:rPr>
              <a:t>Supervised By</a:t>
            </a: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IN" sz="18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Dr. Shyam Goyal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MS PGothic"/>
              </a:rPr>
              <a:t>Department of Computer Science and Engineering,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MS PGothic"/>
              </a:rPr>
              <a:t>Chitkara University, Punjab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  <a:spcBef>
                <a:spcPts val="400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Outline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ubTitle"/>
          </p:nvPr>
        </p:nvSpPr>
        <p:spPr>
          <a:xfrm>
            <a:off x="457200" y="1188000"/>
            <a:ext cx="6031800" cy="448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Introduction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Problem Identification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Literature Review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spc="-1" dirty="0">
                <a:solidFill>
                  <a:schemeClr val="dk1"/>
                </a:solidFill>
                <a:latin typeface="Times New Roman"/>
                <a:ea typeface="DejaVu Sans"/>
              </a:rPr>
              <a:t>Proposed System Design</a:t>
            </a: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Proposed Methodology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Results and Discussion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Conclusion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References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/>
          <p:nvPr/>
        </p:nvSpPr>
        <p:spPr>
          <a:xfrm>
            <a:off x="-1565640" y="-1656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Introduction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0197DC05-689A-4882-A307-EEB0BE7AA29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 5"/>
          <p:cNvSpPr/>
          <p:nvPr/>
        </p:nvSpPr>
        <p:spPr>
          <a:xfrm>
            <a:off x="146304" y="922486"/>
            <a:ext cx="8876736" cy="4154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India filed 64,480 patent applications in 2023 - ranked 6th globally (WIPO 2024)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India has only 221 patent examiners vs 8,180 in the US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Patent approval in India takes ~50 months; USPTO takes ~24 months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Countries like the US, China, and South Korea already use Blockchain and AI in patent systems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India's slow, manual patent process is limiting research and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373680" y="167040"/>
            <a:ext cx="6007320" cy="52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Problem Identification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8" name="Rectangle 1"/>
          <p:cNvSpPr/>
          <p:nvPr/>
        </p:nvSpPr>
        <p:spPr>
          <a:xfrm>
            <a:off x="250560" y="1351326"/>
            <a:ext cx="8642160" cy="4154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processing takes ~50 months in India vs ~24 months in the US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221 examiners handling 64,480+ applications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</a:br>
            <a:endParaRPr lang="en-IN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No real-time tracking or visibility for applicants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Risk of data tampering and misuse of intellectual property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Old IT systems slow down reviews, renewals, and researcher collaboration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BE412D-0050-FB72-8E21-5B86514D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2648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016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Literature Review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0" name="Rectangle 1"/>
          <p:cNvSpPr/>
          <p:nvPr/>
        </p:nvSpPr>
        <p:spPr>
          <a:xfrm>
            <a:off x="360000" y="739046"/>
            <a:ext cx="8280000" cy="6186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</a:pPr>
            <a:b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Previous Research Highlights: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Liu et al. (2021) - Overview of blockchain-DAO; no patent application focus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Diallo et al. (2018) - E-Gov-DAO for governments; not India-specific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Dwivedi et al. (2021) - Smart contract language for DAOs; no full system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Kale (2024) - Patents in metaverse; no tech integration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Chen et al. (2024) - DAO + NFT for document sharing; not applied to patents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Research Gap: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lang="en-US" sz="2200" spc="-1" dirty="0">
                <a:solidFill>
                  <a:schemeClr val="dk1"/>
                </a:solidFill>
                <a:latin typeface="Times New Roman"/>
                <a:ea typeface="DejaVu Sans"/>
              </a:rPr>
              <a:t>No prior work proposes an integrated prototype specifically for India's patent system combining DAO + Blockchain + NFT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04920" y="-7848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Literature Review (Contd.)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62" name="Table 3"/>
          <p:cNvGraphicFramePr/>
          <p:nvPr>
            <p:extLst>
              <p:ext uri="{D42A27DB-BD31-4B8C-83A1-F6EECF244321}">
                <p14:modId xmlns:p14="http://schemas.microsoft.com/office/powerpoint/2010/main" val="770466796"/>
              </p:ext>
            </p:extLst>
          </p:nvPr>
        </p:nvGraphicFramePr>
        <p:xfrm>
          <a:off x="692640" y="1305720"/>
          <a:ext cx="7727400" cy="3774600"/>
        </p:xfrm>
        <a:graphic>
          <a:graphicData uri="http://schemas.openxmlformats.org/drawingml/2006/table">
            <a:tbl>
              <a:tblPr/>
              <a:tblGrid>
                <a:gridCol w="2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200000"/>
                        </a:lnSpc>
                      </a:pPr>
                      <a:r>
                        <a:rPr lang="en-IN" sz="1800" b="1" strike="noStrike" spc="-1" dirty="0">
                          <a:solidFill>
                            <a:schemeClr val="lt1"/>
                          </a:solidFill>
                          <a:latin typeface="Times New Roman"/>
                          <a:ea typeface="DejaVu Sans"/>
                        </a:rPr>
                        <a:t>Author</a:t>
                      </a:r>
                      <a:endParaRPr lang="en-IN" sz="18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Method</a:t>
                      </a: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1" strike="noStrike" spc="-1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Limitation</a:t>
                      </a:r>
                      <a:endParaRPr lang="en-IN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Liu et al.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DAO overview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 patent focus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Diallo et al.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E-Gov-DAO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Not India specific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Dwivedi</a:t>
                      </a: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 et al.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Smart contacts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 full system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Kale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DAO + NFT for documents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0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Not applied to patents</a:t>
                      </a:r>
                      <a:endParaRPr lang="en-IN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24588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 dirty="0">
                <a:solidFill>
                  <a:schemeClr val="dk1"/>
                </a:solidFill>
                <a:latin typeface="Arial"/>
              </a:rPr>
              <a:t>Proposed System Design</a:t>
            </a:r>
          </a:p>
        </p:txBody>
      </p:sp>
      <p:sp>
        <p:nvSpPr>
          <p:cNvPr id="264" name="TextBox 5"/>
          <p:cNvSpPr/>
          <p:nvPr/>
        </p:nvSpPr>
        <p:spPr>
          <a:xfrm>
            <a:off x="560520" y="1116000"/>
            <a:ext cx="7521480" cy="4830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Six-Layer Architecture:</a:t>
            </a: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Layer 1 - User Interface: Web/mobile portal for patent submission and tracking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Layer 2 - DAO Governance: Smart contracts (Solidity on Polygon) for examiner voting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Layer 3 - NFT &amp; IP Registry: ERC-721 NFT module for ownership proof per patent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Layer 4 - Document Storage: IPFS (off-chain files; on-chain SHA-256 hash)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Layer 5 - Legacy Integration: REST API bridge connecting to existing IPO portal</a:t>
            </a:r>
          </a:p>
          <a:p>
            <a:pPr marL="342900" indent="-34290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Layer 6 - Compliance Layer: Zero-Knowledge Proofs for prior-art checks Fully connected layers for classification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9656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Proposed Methodology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6" name="TextBox 4"/>
          <p:cNvSpPr/>
          <p:nvPr/>
        </p:nvSpPr>
        <p:spPr>
          <a:xfrm>
            <a:off x="196560" y="1325880"/>
            <a:ext cx="8583120" cy="44920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System Workflow: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200" spc="-1" dirty="0">
                <a:solidFill>
                  <a:schemeClr val="dk1"/>
                </a:solidFill>
                <a:latin typeface="Times New Roman"/>
                <a:ea typeface="DejaVu Sans"/>
              </a:rPr>
              <a:t> PatentSubmit.sol -  Takes metadata, creates SHA-256 hash, records wallet address + timestamp on-chain</a:t>
            </a: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SHA – 256</a:t>
            </a:r>
            <a:br>
              <a:rPr lang="en-IN" sz="2200" spc="-1" dirty="0">
                <a:solidFill>
                  <a:schemeClr val="dk1"/>
                </a:solidFill>
                <a:latin typeface="Times New Roman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</a:rPr>
              <a:t>PriorArtCheck.sol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</a:rPr>
              <a:t> -  Checks hash against all prior filings to catch duplicates</a:t>
            </a: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Storage on IPFS</a:t>
            </a:r>
            <a:br>
              <a:rPr lang="en-IN" sz="2200" spc="-1" dirty="0">
                <a:solidFill>
                  <a:schemeClr val="dk1"/>
                </a:solidFill>
                <a:latin typeface="Times New Roman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200" spc="-1" dirty="0">
                <a:solidFill>
                  <a:schemeClr val="dk1"/>
                </a:solidFill>
                <a:latin typeface="Times New Roman"/>
              </a:rPr>
              <a:t> ExaminerDAO.sol -  Governance layer: 51% quorum voting, 1-week voting period, verified examiners only (already deployed on Ethereum testnet)</a:t>
            </a:r>
            <a:r>
              <a:rPr lang="en-IN" sz="2200" spc="-1" dirty="0">
                <a:solidFill>
                  <a:schemeClr val="dk1"/>
                </a:solidFill>
                <a:latin typeface="Times New Roman"/>
              </a:rPr>
              <a:t> Approval via smart contract</a:t>
            </a:r>
            <a:br>
              <a:rPr lang="en-IN" sz="2200" spc="-1" dirty="0">
                <a:solidFill>
                  <a:schemeClr val="dk1"/>
                </a:solidFill>
                <a:latin typeface="Times New Roman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NFTPatentGrant.sol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-  Mints ERC-721 NFT on approval; automates royalty splits between co-inventors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016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spc="-1" dirty="0">
                <a:solidFill>
                  <a:schemeClr val="dk1"/>
                </a:solidFill>
                <a:latin typeface="Times New Roman"/>
              </a:rPr>
              <a:t>Results and Discussion</a:t>
            </a:r>
            <a:endParaRPr lang="en-US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68" name="TextBox 4"/>
          <p:cNvSpPr/>
          <p:nvPr/>
        </p:nvSpPr>
        <p:spPr>
          <a:xfrm>
            <a:off x="373680" y="1582920"/>
            <a:ext cx="8769960" cy="4830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Applications of Blockchain &amp; DAO in Patent Management:</a:t>
            </a:r>
            <a:br>
              <a:rPr lang="en-IN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Decentralized Management -  DAO enables collective patent ownership, reducing tampering risk and enabling team-based innovation</a:t>
            </a: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Image Resizing and Normalization  </a:t>
            </a:r>
            <a:b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Smart Contract Automation - Automates royalties, licenses, and terms, reducing admin burden</a:t>
            </a: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Handcrafted Feature Fusion </a:t>
            </a:r>
            <a:b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Decentralized Patent Platforms - Blockchain-based filing ensures immutability and eliminates fraud</a:t>
            </a: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Classification into Disease Categories</a:t>
            </a:r>
            <a:b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r>
              <a:rPr lang="en-IN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Incentivize Collaboration - Reputation tokens reward researchers; governance tokens allow voting on platform improvements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6532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spc="-1" dirty="0">
                <a:solidFill>
                  <a:schemeClr val="dk1"/>
                </a:solidFill>
                <a:latin typeface="Times New Roman"/>
              </a:rPr>
              <a:t>Key Performance </a:t>
            </a:r>
            <a:r>
              <a:rPr lang="en-IN" sz="3200" spc="-1" dirty="0" err="1">
                <a:solidFill>
                  <a:schemeClr val="dk1"/>
                </a:solidFill>
                <a:latin typeface="Times New Roman"/>
              </a:rPr>
              <a:t>Inficators</a:t>
            </a:r>
            <a:r>
              <a:rPr lang="en-IN" sz="3200" spc="-1" dirty="0">
                <a:solidFill>
                  <a:schemeClr val="dk1"/>
                </a:solidFill>
                <a:latin typeface="Times New Roman"/>
              </a:rPr>
              <a:t>(KPIs)</a:t>
            </a:r>
            <a:endParaRPr lang="en-US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A074D0-4832-28A9-E222-D49373571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72876"/>
              </p:ext>
            </p:extLst>
          </p:nvPr>
        </p:nvGraphicFramePr>
        <p:xfrm>
          <a:off x="457200" y="2496026"/>
          <a:ext cx="8031480" cy="2194560"/>
        </p:xfrm>
        <a:graphic>
          <a:graphicData uri="http://schemas.openxmlformats.org/drawingml/2006/table">
            <a:tbl>
              <a:tblPr/>
              <a:tblGrid>
                <a:gridCol w="2545080">
                  <a:extLst>
                    <a:ext uri="{9D8B030D-6E8A-4147-A177-3AD203B41FA5}">
                      <a16:colId xmlns:a16="http://schemas.microsoft.com/office/drawing/2014/main" val="269806473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023827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9081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Current (IPO)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30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~50 months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Under 12 months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580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Duplicate/Fraud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~15% estimated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Under 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76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 Cost per Patent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₹25,000–40,000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₹10,000–15,000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622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Applicant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real-time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Full on-chain audit trail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830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Tampering Incidents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Untracked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Near zero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439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32436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spc="-1" dirty="0">
                <a:solidFill>
                  <a:schemeClr val="dk1"/>
                </a:solidFill>
                <a:latin typeface="Times New Roman"/>
              </a:rPr>
              <a:t>Discussion: Benefits &amp; Challenges</a:t>
            </a:r>
            <a:endParaRPr lang="en-US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471960" y="1406160"/>
            <a:ext cx="7246080" cy="5169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200" b="1" spc="-1" dirty="0">
                <a:solidFill>
                  <a:schemeClr val="dk1"/>
                </a:solidFill>
                <a:latin typeface="Times New Roman"/>
                <a:ea typeface="DejaVu Sans"/>
              </a:rPr>
              <a:t>Benefits</a:t>
            </a:r>
            <a:r>
              <a:rPr lang="en-US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Security - SHA-256 hashing makes uploaded documents immutable and tamper-proof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Efficiency - Smart contracts automate royalties, licenses, and terms </a:t>
            </a: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Transparency - All decisions visible on-chain; reduces disputes</a:t>
            </a: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Accessibility - Breaks geographic barriers for global researcher participation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spc="-1" dirty="0">
                <a:solidFill>
                  <a:schemeClr val="dk1"/>
                </a:solidFill>
                <a:latin typeface="Times New Roman"/>
                <a:ea typeface="DejaVu Sans"/>
              </a:rPr>
              <a:t>Challenges</a:t>
            </a:r>
            <a:r>
              <a:rPr lang="en-US" sz="2200" b="1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: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Legal Recognition - DAOs lack clear legal status in India under current law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Issues - Existing Patent Act and IT Act not designed for blockchain</a:t>
            </a:r>
            <a:endParaRPr lang="en-IN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24588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spc="-1" dirty="0">
                <a:solidFill>
                  <a:schemeClr val="dk1"/>
                </a:solidFill>
                <a:latin typeface="Times New Roman"/>
              </a:rPr>
              <a:t>Implementation Roadmap </a:t>
            </a:r>
            <a:br>
              <a:rPr lang="en-IN" sz="3200" spc="-1" dirty="0">
                <a:solidFill>
                  <a:schemeClr val="dk1"/>
                </a:solidFill>
                <a:latin typeface="Times New Roman"/>
              </a:rPr>
            </a:br>
            <a:r>
              <a:rPr lang="en-IN" sz="3200" spc="-1" dirty="0">
                <a:solidFill>
                  <a:schemeClr val="dk1"/>
                </a:solidFill>
                <a:latin typeface="Times New Roman"/>
              </a:rPr>
              <a:t>(12 Months)</a:t>
            </a:r>
            <a:endParaRPr lang="en-US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" name="TextBox 4"/>
          <p:cNvSpPr/>
          <p:nvPr/>
        </p:nvSpPr>
        <p:spPr>
          <a:xfrm>
            <a:off x="471960" y="1455120"/>
            <a:ext cx="6373440" cy="38149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20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Phase 1 (Months 1-3): Smart contract design, Polygon testnet deployment, IPO API mapping</a:t>
            </a:r>
            <a:br>
              <a:rPr lang="en-IN" sz="220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20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Phase 2 (Months 4-6): NFT minting prototype, IPFS integration, DAO governance module</a:t>
            </a:r>
          </a:p>
          <a:p>
            <a:pPr defTabSz="914400">
              <a:lnSpc>
                <a:spcPct val="100000"/>
              </a:lnSpc>
            </a:pPr>
            <a:endParaRPr lang="en-IN" sz="220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20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Phase 3 (Months 7-9): Pilot with 50 real patent applications, prior-art checker testing</a:t>
            </a:r>
            <a:br>
              <a:rPr lang="en-IN" sz="220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IN" sz="220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20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Phase 4 (Months 10-12): Legal compliance audit, KPI measurement, report to CGPDTM</a:t>
            </a:r>
            <a:endParaRPr lang="en-IN" sz="220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8684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Conclusion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324360" y="1480680"/>
            <a:ext cx="7560720" cy="4153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Blockchain + DAO can modernize India's patent system through immutability, transparency, and decentralized governance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</a:pP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Patent Chain-IN six-layer architecture designed; ExaminerDAO.sol already testnet-deployed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KPIs project reduction in processing time from 50 to under 12 months, and ~40% cost savings</a:t>
            </a:r>
            <a:b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</a:br>
            <a:endParaRPr lang="en-US" sz="2200" b="0" strike="noStrike" spc="-1" dirty="0">
              <a:solidFill>
                <a:schemeClr val="dk1"/>
              </a:solidFill>
              <a:latin typeface="Times New Roman"/>
              <a:ea typeface="DejaVu Sans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Future work: complete remaining smart contracts, address DAO legal standing under India's Companies Act, and add AI-based semantic prior art detection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20664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IN" sz="32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References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" name="Rectangle 2"/>
          <p:cNvSpPr/>
          <p:nvPr/>
        </p:nvSpPr>
        <p:spPr>
          <a:xfrm>
            <a:off x="68760" y="-540676"/>
            <a:ext cx="9281160" cy="5847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br>
              <a:rPr lang="en-IN" sz="2200" b="0" strike="noStrike" spc="-1" dirty="0">
                <a:solidFill>
                  <a:srgbClr val="000000"/>
                </a:solidFill>
                <a:latin typeface="Arial"/>
              </a:rPr>
            </a:br>
            <a:br>
              <a:rPr lang="en-IN" sz="2200" b="0" strike="noStrike" spc="-1" dirty="0">
                <a:solidFill>
                  <a:srgbClr val="000000"/>
                </a:solidFill>
                <a:latin typeface="Arial"/>
              </a:rPr>
            </a:br>
            <a:br>
              <a:rPr lang="en-IN" sz="2200" b="0" strike="noStrike" spc="-1" dirty="0">
                <a:solidFill>
                  <a:srgbClr val="000000"/>
                </a:solidFill>
                <a:latin typeface="Arial"/>
              </a:rPr>
            </a:br>
            <a:br>
              <a:rPr lang="en-IN" sz="2200" b="0" strike="noStrike" spc="-1" dirty="0">
                <a:solidFill>
                  <a:srgbClr val="000000"/>
                </a:solidFill>
                <a:latin typeface="Arial"/>
              </a:rPr>
            </a:b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Liu et al. - From technology to society: an overview of blockchain-based DAO. IEEE Open J.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Comput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. Soc. 2, 204–215 (2021)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Diallo et al. -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EGov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-DAO: a better government using blockchain based decentralized autonomous organization. ICEDEG (2018)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Ivannikov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&amp;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Kosnikov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- Blockchain and artificial intelligence in intellectual property management. J. Reg. Int.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Compet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. 5(2), 68–74 (2024)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Dwivedi et al. - A formal specification smart-contract language for legally binding DAOs. IEEE Access 9, 76069–76082 (2021)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Kale - Patents in metaverse: an analysis of scope and challenges. Int. Rev. Law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Times New Roman"/>
                <a:ea typeface="DejaVu Sans"/>
              </a:rPr>
              <a:t>Comput</a:t>
            </a:r>
            <a:r>
              <a:rPr lang="en-US" sz="22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. Technol. (2024)</a:t>
            </a: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 et al. - A framework based on the DAO and NFT in blockchain for electronic document sharing.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Model. Eng. Sci. 140(3) (2024)</a:t>
            </a:r>
            <a:endParaRPr lang="en-IN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" sz="5400" b="0" strike="noStrike" spc="-1">
                <a:solidFill>
                  <a:schemeClr val="dk1"/>
                </a:solidFill>
                <a:latin typeface="Times New Roman"/>
                <a:ea typeface="DejaVu Sans"/>
              </a:rPr>
              <a:t>Thank You</a:t>
            </a:r>
            <a:endParaRPr lang="en-IN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CC3F7EF-31B3-467F-9207-A55C03D5F15B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15</a:t>
            </a:fld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34827</TotalTime>
  <Words>1097</Words>
  <Application>Microsoft Office PowerPoint</Application>
  <PresentationFormat>On-screen Show (4:3)</PresentationFormat>
  <Paragraphs>140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15</vt:i4>
      </vt:variant>
    </vt:vector>
  </HeadingPairs>
  <TitlesOfParts>
    <vt:vector size="32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Outline</vt:lpstr>
      <vt:lpstr>PowerPoint Presentation</vt:lpstr>
      <vt:lpstr>Problem Identification</vt:lpstr>
      <vt:lpstr>Literature Review</vt:lpstr>
      <vt:lpstr>Literature Review (Contd.)</vt:lpstr>
      <vt:lpstr>Proposed System Design</vt:lpstr>
      <vt:lpstr>Proposed Methodology</vt:lpstr>
      <vt:lpstr>Results and Discussion</vt:lpstr>
      <vt:lpstr>Key Performance Inficators(KPIs)</vt:lpstr>
      <vt:lpstr>Discussion: Benefits &amp; Challenges</vt:lpstr>
      <vt:lpstr>Implementation Roadmap  (12 Months)</vt:lpstr>
      <vt:lpstr>Conclusion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ABC</dc:creator>
  <dc:description/>
  <cp:lastModifiedBy>Shobit Garg</cp:lastModifiedBy>
  <cp:revision>2307</cp:revision>
  <dcterms:created xsi:type="dcterms:W3CDTF">2010-04-09T07:36:15Z</dcterms:created>
  <dcterms:modified xsi:type="dcterms:W3CDTF">2026-05-18T18:57:09Z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0x010100096F1BF43DDE004485E7A868D137D60A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15</vt:i4>
  </property>
</Properties>
</file>